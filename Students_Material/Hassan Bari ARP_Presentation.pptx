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3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85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37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182880" y="548640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182880" y="1828800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82880" y="2468880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82880" y="3108960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82880" y="3749040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82880" y="4389120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82880" y="5029200"/>
            <a:ext cx="8778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6858000" y="365760"/>
            <a:ext cx="3200400" cy="32004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1828800" cy="1828800"/>
          </a:xfrm>
          <a:prstGeom prst="ellipse">
            <a:avLst/>
          </a:prstGeom>
          <a:solidFill>
            <a:srgbClr val="00B0D7">
              <a:alpha val="12000"/>
            </a:srgbClr>
          </a:solidFill>
          <a:ln w="12700">
            <a:solidFill>
              <a:srgbClr val="00B0D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" y="1005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PROTOCOL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Address Resolution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Protocol </a:t>
            </a:r>
            <a:r>
              <a:rPr lang="en-US" sz="5000" b="1" dirty="0">
                <a:solidFill>
                  <a:srgbClr val="00B0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(ARP)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FA8C9"/>
                </a:solidFill>
              </a:rPr>
              <a:t>Bridging the Gap Between IP Addresses and MAC Addresses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9"/>
                </a:solidFill>
              </a:rPr>
              <a:t>CEH | Ethical Hacking Essential Concepts · Module: Network Fundamentals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1828800"/>
            <a:ext cx="109728" cy="109728"/>
          </a:xfrm>
          <a:prstGeom prst="ellipse">
            <a:avLst/>
          </a:prstGeom>
          <a:solidFill>
            <a:srgbClr val="00B0D7">
              <a:alpha val="60000"/>
            </a:srgbClr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8138160" y="2286000"/>
            <a:ext cx="109728" cy="109728"/>
          </a:xfrm>
          <a:prstGeom prst="ellipse">
            <a:avLst/>
          </a:prstGeom>
          <a:solidFill>
            <a:srgbClr val="00B0D7">
              <a:alpha val="60000"/>
            </a:srgbClr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7498080" y="2743200"/>
            <a:ext cx="109728" cy="109728"/>
          </a:xfrm>
          <a:prstGeom prst="ellipse">
            <a:avLst/>
          </a:prstGeom>
          <a:solidFill>
            <a:srgbClr val="00B0D7">
              <a:alpha val="60000"/>
            </a:srgbClr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8321040" y="3108960"/>
            <a:ext cx="109728" cy="109728"/>
          </a:xfrm>
          <a:prstGeom prst="ellipse">
            <a:avLst/>
          </a:prstGeom>
          <a:solidFill>
            <a:srgbClr val="00B0D7">
              <a:alpha val="60000"/>
            </a:srgbClr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7863840" y="3474720"/>
            <a:ext cx="109728" cy="109728"/>
          </a:xfrm>
          <a:prstGeom prst="ellipse">
            <a:avLst/>
          </a:prstGeom>
          <a:solidFill>
            <a:srgbClr val="00B0D7">
              <a:alpha val="60000"/>
            </a:srgbClr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37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ARP?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383280"/>
          </a:xfrm>
          <a:prstGeom prst="rect">
            <a:avLst/>
          </a:prstGeom>
          <a:solidFill>
            <a:srgbClr val="16203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88720" cy="411480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IP→MAC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IP to MAC Resolution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ARP maps a known IP address to an unknown MAC address — essential because devices on a LAN communicate via MAC, not IP.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43200" cy="3383280"/>
          </a:xfrm>
          <a:prstGeom prst="rect">
            <a:avLst/>
          </a:prstGeom>
          <a:solidFill>
            <a:srgbClr val="16203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1188720" cy="4114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337560" y="1097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BCAST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Broadcast Request, Unicast Reply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ARP sends a broadcast asking "Who has this IP?" Only the device with that IP replies directly (unicast) with its MAC address.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743200" cy="3383280"/>
          </a:xfrm>
          <a:prstGeom prst="rect">
            <a:avLst/>
          </a:prstGeom>
          <a:solidFill>
            <a:srgbClr val="16203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309360" y="1097280"/>
            <a:ext cx="1188720" cy="411480"/>
          </a:xfrm>
          <a:prstGeom prst="rect">
            <a:avLst/>
          </a:prstGeom>
          <a:solidFill>
            <a:srgbClr val="26A869"/>
          </a:solidFill>
          <a:ln w="12700">
            <a:solidFill>
              <a:srgbClr val="26A8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309360" y="1097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CACHE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ARP Cache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IP-to-MAC mappings are stored in an ARP table (cache) on devices, switches, and routers to avoid repeated broadcasts.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4480560"/>
            <a:ext cx="8686800" cy="548640"/>
          </a:xfrm>
          <a:prstGeom prst="rect">
            <a:avLst/>
          </a:prstGeom>
          <a:solidFill>
            <a:srgbClr val="1B2B3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228600" y="4480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D7"/>
                </a:solidFill>
              </a:rPr>
              <a:t>OSI Layer: </a:t>
            </a:r>
            <a:r>
              <a:rPr lang="en-US" sz="1200" dirty="0">
                <a:solidFill>
                  <a:srgbClr val="B0C4D8"/>
                </a:solidFill>
              </a:rPr>
              <a:t>Data Link (Layer 2)  |  </a:t>
            </a:r>
            <a:r>
              <a:rPr lang="en-US" sz="1200" b="1" dirty="0">
                <a:solidFill>
                  <a:srgbClr val="00B0D7"/>
                </a:solidFill>
              </a:rPr>
              <a:t>Stateless: </a:t>
            </a:r>
            <a:r>
              <a:rPr lang="en-US" sz="1200" dirty="0">
                <a:solidFill>
                  <a:srgbClr val="B0C4D8"/>
                </a:solidFill>
              </a:rPr>
              <a:t>No connection tracking  |  </a:t>
            </a:r>
            <a:r>
              <a:rPr lang="en-US" sz="1200" b="1" dirty="0">
                <a:solidFill>
                  <a:srgbClr val="F57C00"/>
                </a:solidFill>
              </a:rPr>
              <a:t>RFC 826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37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ARP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280160"/>
          </a:xfrm>
          <a:prstGeom prst="rect">
            <a:avLst/>
          </a:prstGeom>
          <a:solidFill>
            <a:srgbClr val="1B2B3B"/>
          </a:solidFill>
          <a:ln w="1905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C00"/>
                </a:solidFill>
              </a:rPr>
              <a:t>SENDER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2011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0D7"/>
                </a:solidFill>
              </a:rPr>
              <a:t>IP: 194.54.67.10
</a:t>
            </a:r>
            <a:r>
              <a:rPr lang="en-US" sz="950" dirty="0">
                <a:solidFill>
                  <a:srgbClr val="B0C4D8"/>
                </a:solidFill>
              </a:rPr>
              <a:t>MAC: 00:1b:48:64:42:e4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66160" y="1280160"/>
            <a:ext cx="2011680" cy="731520"/>
          </a:xfrm>
          <a:prstGeom prst="rect">
            <a:avLst/>
          </a:prstGeom>
          <a:solidFill>
            <a:srgbClr val="1B2B3B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3566160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NETWORK SWITCH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1627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Broadcasts to all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0" y="1005840"/>
            <a:ext cx="2011680" cy="1280160"/>
          </a:xfrm>
          <a:prstGeom prst="rect">
            <a:avLst/>
          </a:prstGeom>
          <a:solidFill>
            <a:srgbClr val="1B2B3B"/>
          </a:solidFill>
          <a:ln w="19050">
            <a:solidFill>
              <a:srgbClr val="26A8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685800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A869"/>
                </a:solidFill>
              </a:rPr>
              <a:t>TARGET (.3)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1353312"/>
            <a:ext cx="2011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0D7"/>
                </a:solidFill>
              </a:rPr>
              <a:t>IP: 192.168.168.3
</a:t>
            </a:r>
            <a:r>
              <a:rPr lang="en-US" sz="950" dirty="0">
                <a:solidFill>
                  <a:srgbClr val="B0C4D8"/>
                </a:solidFill>
              </a:rPr>
              <a:t>MAC: 00-14-20-01-23-47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8595360" cy="548640"/>
          </a:xfrm>
          <a:prstGeom prst="rect">
            <a:avLst/>
          </a:prstGeom>
          <a:solidFill>
            <a:srgbClr val="162032"/>
          </a:solidFill>
          <a:ln w="1016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777240" cy="5486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74320" y="25146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STEP 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97280" y="2514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7C00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2514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</a:rPr>
              <a:t>ARP REQUEST (Broadcast): "Who has 192.168.168.3? Tell 194.54.67.10"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8595360" cy="548640"/>
          </a:xfrm>
          <a:prstGeom prst="rect">
            <a:avLst/>
          </a:prstGeom>
          <a:solidFill>
            <a:srgbClr val="162032"/>
          </a:solidFill>
          <a:ln w="1016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777240" cy="548640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274320" y="32461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STEP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97280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0D7"/>
                </a:solidFill>
              </a:rPr>
              <a:t>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32461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</a:rPr>
              <a:t>ARP REPLY (Unicast): "I am 192.168.168.3, my MAC is 00-14-20-01-23-47"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977640"/>
            <a:ext cx="8595360" cy="548640"/>
          </a:xfrm>
          <a:prstGeom prst="rect">
            <a:avLst/>
          </a:prstGeom>
          <a:solidFill>
            <a:srgbClr val="162032"/>
          </a:solidFill>
          <a:ln w="1016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274320" y="3977640"/>
            <a:ext cx="777240" cy="548640"/>
          </a:xfrm>
          <a:prstGeom prst="rect">
            <a:avLst/>
          </a:prstGeom>
          <a:solidFill>
            <a:srgbClr val="26A869"/>
          </a:solidFill>
          <a:ln w="1270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274320" y="39776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STEP 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A869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0020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</a:rPr>
              <a:t>Connection Established — Sender stores MAC in ARP Cache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3772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ARP Packet Format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1645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Byte 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914400"/>
            <a:ext cx="1645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920240" y="914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Byte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914400"/>
            <a:ext cx="21945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361188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Byte 2–3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298448"/>
            <a:ext cx="5486400" cy="365760"/>
          </a:xfrm>
          <a:prstGeom prst="rect">
            <a:avLst/>
          </a:prstGeom>
          <a:solidFill>
            <a:srgbClr val="1B2B3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274320" y="12984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</a:rPr>
              <a:t>Hardware Type (2B)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682496"/>
            <a:ext cx="548640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274320" y="16824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</a:rPr>
              <a:t>Hardware Length (1B)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066544"/>
            <a:ext cx="5486400" cy="365760"/>
          </a:xfrm>
          <a:prstGeom prst="rect">
            <a:avLst/>
          </a:prstGeom>
          <a:solidFill>
            <a:srgbClr val="1B2B3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74320" y="20665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</a:rPr>
              <a:t>Operation Code (2B)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450592"/>
            <a:ext cx="548640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274320" y="24505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</a:rPr>
              <a:t>Sender Hardware Address — First 4 Bytes (MAC)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834640"/>
            <a:ext cx="5486400" cy="365760"/>
          </a:xfrm>
          <a:prstGeom prst="rect">
            <a:avLst/>
          </a:prstGeom>
          <a:solidFill>
            <a:srgbClr val="1B2B3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274320" y="2834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</a:rPr>
              <a:t>Sender HA — Last 2B + Sender PA — First 2B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218688"/>
            <a:ext cx="548640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274320" y="32186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</a:rPr>
              <a:t>Sender Protocol Address — Last 2B + Target HA — First 2B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02736"/>
            <a:ext cx="5486400" cy="365760"/>
          </a:xfrm>
          <a:prstGeom prst="rect">
            <a:avLst/>
          </a:prstGeom>
          <a:solidFill>
            <a:srgbClr val="1B2B3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274320" y="36027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</a:rPr>
              <a:t>Target Hardware Address — Last 4 Bytes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986784"/>
            <a:ext cx="548640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274320" y="39867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</a:rPr>
              <a:t>Target Protocol Address — 4 Bytes (IP)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914400"/>
            <a:ext cx="2926080" cy="4133088"/>
          </a:xfrm>
          <a:prstGeom prst="rect">
            <a:avLst/>
          </a:prstGeom>
          <a:solidFill>
            <a:srgbClr val="16203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126480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D7"/>
                </a:solidFill>
              </a:rPr>
              <a:t>Hardware Type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0" y="12984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1 = Ethernet, 2 = Exp.Eth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1755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</a:rPr>
              <a:t>Protocol Type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26480" y="20482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0x0800 = IPv4, 0x86DD = IPv6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2505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A869"/>
                </a:solidFill>
              </a:rPr>
              <a:t>Hardware Length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26480" y="27980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6 bytes (Ethernet MAC)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32552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D7"/>
                </a:solidFill>
              </a:rPr>
              <a:t>Protocol Length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26480" y="35478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4 bytes (IPv4 address)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4005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C00"/>
                </a:solidFill>
              </a:rPr>
              <a:t>Operation Code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26480" y="4297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1 = Request,  2 = Reply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37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ARP Packet Encapsulation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1920240"/>
          </a:xfrm>
          <a:prstGeom prst="rect">
            <a:avLst/>
          </a:prstGeom>
          <a:solidFill>
            <a:srgbClr val="162032"/>
          </a:solidFill>
          <a:ln w="1905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194560" cy="3657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ARP REQUEST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7C00"/>
                </a:solidFill>
              </a:rPr>
              <a:t>Null Destination MAC → Broadcast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1005840" cy="1417320"/>
          </a:xfrm>
          <a:prstGeom prst="rect">
            <a:avLst/>
          </a:prstGeom>
          <a:solidFill>
            <a:srgbClr val="1B2B3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28600" y="137160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7"/>
                </a:solidFill>
              </a:rPr>
              <a:t>Preamble
+SFD
</a:t>
            </a:r>
            <a:r>
              <a:rPr lang="en-US" sz="800" dirty="0">
                <a:solidFill>
                  <a:srgbClr val="00B0D7"/>
                </a:solidFill>
              </a:rPr>
              <a:t>8B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234440" y="1371600"/>
            <a:ext cx="1828800" cy="1417320"/>
          </a:xfrm>
          <a:prstGeom prst="rect">
            <a:avLst/>
          </a:prstGeom>
          <a:solidFill>
            <a:srgbClr val="E53935">
              <a:alpha val="50000"/>
            </a:srgbClr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1234440" y="137160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F0F7"/>
                </a:solidFill>
              </a:rPr>
              <a:t>Dest MAC
00:00:00:00:00:00
</a:t>
            </a:r>
            <a:r>
              <a:rPr lang="en-US" sz="800" dirty="0">
                <a:solidFill>
                  <a:srgbClr val="00B0D7"/>
                </a:solidFill>
              </a:rPr>
              <a:t>6B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63240" y="1371600"/>
            <a:ext cx="1828800" cy="1417320"/>
          </a:xfrm>
          <a:prstGeom prst="rect">
            <a:avLst/>
          </a:prstGeom>
          <a:solidFill>
            <a:srgbClr val="1B2B3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063240" y="137160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7"/>
                </a:solidFill>
              </a:rPr>
              <a:t>Source MAC
0x645A04531E65
</a:t>
            </a:r>
            <a:r>
              <a:rPr lang="en-US" sz="800" dirty="0">
                <a:solidFill>
                  <a:srgbClr val="00B0D7"/>
                </a:solidFill>
              </a:rPr>
              <a:t>6B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92040" y="1371600"/>
            <a:ext cx="822960" cy="1417320"/>
          </a:xfrm>
          <a:prstGeom prst="rect">
            <a:avLst/>
          </a:prstGeom>
          <a:solidFill>
            <a:srgbClr val="1565C0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892040" y="137160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7"/>
                </a:solidFill>
              </a:rPr>
              <a:t>Type
0x0806
</a:t>
            </a:r>
            <a:r>
              <a:rPr lang="en-US" sz="800" dirty="0">
                <a:solidFill>
                  <a:srgbClr val="00B0D7"/>
                </a:solidFill>
              </a:rPr>
              <a:t>2B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15000" y="1371600"/>
            <a:ext cx="1645920" cy="1417320"/>
          </a:xfrm>
          <a:prstGeom prst="rect">
            <a:avLst/>
          </a:prstGeom>
          <a:solidFill>
            <a:srgbClr val="1B2B3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715000" y="137160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7"/>
                </a:solidFill>
              </a:rPr>
              <a:t>ARP Data
28 bytes
</a:t>
            </a:r>
            <a:r>
              <a:rPr lang="en-US" sz="800" dirty="0">
                <a:solidFill>
                  <a:srgbClr val="00B0D7"/>
                </a:solidFill>
              </a:rPr>
              <a:t>28B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60920" y="1371600"/>
            <a:ext cx="640080" cy="1417320"/>
          </a:xfrm>
          <a:prstGeom prst="rect">
            <a:avLst/>
          </a:prstGeom>
          <a:solidFill>
            <a:srgbClr val="1B2B3B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7360920" y="1371600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7"/>
                </a:solidFill>
              </a:rPr>
              <a:t>CRC
</a:t>
            </a:r>
            <a:r>
              <a:rPr lang="en-US" sz="800" dirty="0">
                <a:solidFill>
                  <a:srgbClr val="00B0D7"/>
                </a:solidFill>
              </a:rPr>
              <a:t>4B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2578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7C00"/>
                </a:solidFill>
              </a:rPr>
              <a:t>⚠ Destination = FF:FF:FF:FF:FF:FF (Broadcast)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971800"/>
            <a:ext cx="8686800" cy="1920240"/>
          </a:xfrm>
          <a:prstGeom prst="rect">
            <a:avLst/>
          </a:prstGeom>
          <a:solidFill>
            <a:srgbClr val="162032"/>
          </a:solidFill>
          <a:ln w="19050">
            <a:solidFill>
              <a:srgbClr val="26A8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228600" y="2971800"/>
            <a:ext cx="1828800" cy="365760"/>
          </a:xfrm>
          <a:prstGeom prst="rect">
            <a:avLst/>
          </a:prstGeom>
          <a:solidFill>
            <a:srgbClr val="26A869"/>
          </a:solidFill>
          <a:ln w="1270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2286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ARP REPLY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6A869"/>
                </a:solidFill>
              </a:rPr>
              <a:t>Filled Destination MAC → Unicast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383280"/>
            <a:ext cx="1005840" cy="1417320"/>
          </a:xfrm>
          <a:prstGeom prst="rect">
            <a:avLst/>
          </a:prstGeom>
          <a:solidFill>
            <a:srgbClr val="1B2B3B"/>
          </a:solidFill>
          <a:ln w="635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228600" y="338328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7"/>
                </a:solidFill>
              </a:rPr>
              <a:t>Preamble
+SFD
</a:t>
            </a:r>
            <a:r>
              <a:rPr lang="en-US" sz="800" dirty="0">
                <a:solidFill>
                  <a:srgbClr val="4DD9F5"/>
                </a:solidFill>
              </a:rPr>
              <a:t>8B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234440" y="3383280"/>
            <a:ext cx="1828800" cy="1417320"/>
          </a:xfrm>
          <a:prstGeom prst="rect">
            <a:avLst/>
          </a:prstGeom>
          <a:solidFill>
            <a:srgbClr val="26A869">
              <a:alpha val="50000"/>
            </a:srgbClr>
          </a:solidFill>
          <a:ln w="635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1234440" y="338328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F0F7"/>
                </a:solidFill>
              </a:rPr>
              <a:t>Dest MAC
0x645A04531E65
</a:t>
            </a:r>
            <a:r>
              <a:rPr lang="en-US" sz="800" dirty="0">
                <a:solidFill>
                  <a:srgbClr val="4DD9F5"/>
                </a:solidFill>
              </a:rPr>
              <a:t>6B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063240" y="3383280"/>
            <a:ext cx="1828800" cy="1417320"/>
          </a:xfrm>
          <a:prstGeom prst="rect">
            <a:avLst/>
          </a:prstGeom>
          <a:solidFill>
            <a:srgbClr val="1B2B3B"/>
          </a:solidFill>
          <a:ln w="635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3063240" y="338328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7"/>
                </a:solidFill>
              </a:rPr>
              <a:t>Source MAC
0x0454530E2CAB
</a:t>
            </a:r>
            <a:r>
              <a:rPr lang="en-US" sz="800" dirty="0">
                <a:solidFill>
                  <a:srgbClr val="4DD9F5"/>
                </a:solidFill>
              </a:rPr>
              <a:t>6B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92040" y="3383280"/>
            <a:ext cx="822960" cy="1417320"/>
          </a:xfrm>
          <a:prstGeom prst="rect">
            <a:avLst/>
          </a:prstGeom>
          <a:solidFill>
            <a:srgbClr val="1565C0"/>
          </a:solidFill>
          <a:ln w="635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892040" y="338328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7"/>
                </a:solidFill>
              </a:rPr>
              <a:t>Type
0x0806
</a:t>
            </a:r>
            <a:r>
              <a:rPr lang="en-US" sz="800" dirty="0">
                <a:solidFill>
                  <a:srgbClr val="4DD9F5"/>
                </a:solidFill>
              </a:rPr>
              <a:t>2B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3383280"/>
            <a:ext cx="1645920" cy="1417320"/>
          </a:xfrm>
          <a:prstGeom prst="rect">
            <a:avLst/>
          </a:prstGeom>
          <a:solidFill>
            <a:srgbClr val="1B2B3B"/>
          </a:solidFill>
          <a:ln w="635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5715000" y="338328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7"/>
                </a:solidFill>
              </a:rPr>
              <a:t>ARP Data
28 bytes
</a:t>
            </a:r>
            <a:r>
              <a:rPr lang="en-US" sz="800" dirty="0">
                <a:solidFill>
                  <a:srgbClr val="4DD9F5"/>
                </a:solidFill>
              </a:rPr>
              <a:t>28B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60920" y="3383280"/>
            <a:ext cx="640080" cy="1417320"/>
          </a:xfrm>
          <a:prstGeom prst="rect">
            <a:avLst/>
          </a:prstGeom>
          <a:solidFill>
            <a:srgbClr val="1B2B3B"/>
          </a:solidFill>
          <a:ln w="635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7360920" y="3383280"/>
            <a:ext cx="640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7"/>
                </a:solidFill>
              </a:rPr>
              <a:t>CRC
</a:t>
            </a:r>
            <a:r>
              <a:rPr lang="en-US" sz="800" dirty="0">
                <a:solidFill>
                  <a:srgbClr val="4DD9F5"/>
                </a:solidFill>
              </a:rPr>
              <a:t>4B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4320" y="45902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6A869"/>
                </a:solidFill>
              </a:rPr>
              <a:t>✔ Destination = actual MAC of requesting device (Unicast)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37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ARP in Security — </a:t>
            </a:r>
            <a:r>
              <a:rPr lang="en-US" sz="27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ARP Spoofing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0" cy="4023360"/>
          </a:xfrm>
          <a:prstGeom prst="rect">
            <a:avLst/>
          </a:prstGeom>
          <a:solidFill>
            <a:srgbClr val="162032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11480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2646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36576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ARP has NO authentication — any device can send fake ARP replies.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95681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6576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19293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Attacker sends a forged ARP reply: "I am 192.168.1.1, my MAC is AA:BB:CC:DD:EE:FF"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6576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" y="24597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Victim updates its ARP cache with the attacker's MAC.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29900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All traffic meant for the gateway now flows through the attacker.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6576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</a:rPr>
              <a:t>This enables Man-in-the-Middle (MitM), sniffing, or Denial of Service attacks.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914400"/>
            <a:ext cx="4343400" cy="4023360"/>
          </a:xfrm>
          <a:prstGeom prst="rect">
            <a:avLst/>
          </a:prstGeom>
          <a:solidFill>
            <a:srgbClr val="162032"/>
          </a:solidFill>
          <a:ln w="12700">
            <a:solidFill>
              <a:srgbClr val="26A8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572000" y="914400"/>
            <a:ext cx="4343400" cy="384048"/>
          </a:xfrm>
          <a:prstGeom prst="rect">
            <a:avLst/>
          </a:prstGeom>
          <a:solidFill>
            <a:srgbClr val="26A869"/>
          </a:solidFill>
          <a:ln w="1270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572000" y="914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Countermeasures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1426464"/>
            <a:ext cx="73152" cy="384048"/>
          </a:xfrm>
          <a:prstGeom prst="rect">
            <a:avLst/>
          </a:prstGeom>
          <a:solidFill>
            <a:srgbClr val="26A869"/>
          </a:solidFill>
          <a:ln w="1270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892040" y="14081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D9F5"/>
                </a:solidFill>
              </a:rPr>
              <a:t>Dynamic ARP Inspection (DAI)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Validates ARP packets against a DHCP binding table on managed switches.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993392"/>
            <a:ext cx="73152" cy="384048"/>
          </a:xfrm>
          <a:prstGeom prst="rect">
            <a:avLst/>
          </a:prstGeom>
          <a:solidFill>
            <a:srgbClr val="26A869"/>
          </a:solidFill>
          <a:ln w="1270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4892040" y="19751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D9F5"/>
                </a:solidFill>
              </a:rPr>
              <a:t>Static ARP Entries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2212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Manually configure critical IP-to-MAC mappings to prevent overwriting.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560320"/>
            <a:ext cx="73152" cy="384048"/>
          </a:xfrm>
          <a:prstGeom prst="rect">
            <a:avLst/>
          </a:prstGeom>
          <a:solidFill>
            <a:srgbClr val="26A869"/>
          </a:solidFill>
          <a:ln w="1270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892040" y="2542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D9F5"/>
                </a:solidFill>
              </a:rPr>
              <a:t>ARP Monitoring Tools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27797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Tools like ARPwatch detect sudden ARP cache changes.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127248"/>
            <a:ext cx="73152" cy="384048"/>
          </a:xfrm>
          <a:prstGeom prst="rect">
            <a:avLst/>
          </a:prstGeom>
          <a:solidFill>
            <a:srgbClr val="26A869"/>
          </a:solidFill>
          <a:ln w="1270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4892040" y="31089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D9F5"/>
                </a:solidFill>
              </a:rPr>
              <a:t>Encryption (TLS/HTTPS)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Even if sniffed, encrypted traffic can't be read by the attacker.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3694176"/>
            <a:ext cx="73152" cy="384048"/>
          </a:xfrm>
          <a:prstGeom prst="rect">
            <a:avLst/>
          </a:prstGeom>
          <a:solidFill>
            <a:srgbClr val="26A869"/>
          </a:solidFill>
          <a:ln w="1270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4892040" y="3675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DD9F5"/>
                </a:solidFill>
              </a:rPr>
              <a:t>VLANs &amp; Network Segmentation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3913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Limit ARP broadcast domains to reduce attack surface.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64008" cy="5033772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6517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0D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38328" y="1097280"/>
            <a:ext cx="411480" cy="411480"/>
          </a:xfrm>
          <a:prstGeom prst="ellipse">
            <a:avLst/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38328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ARP resolves IP → MAC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5819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Works at Layer 2, stateless protocol (RFC 826)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27248" y="960120"/>
            <a:ext cx="26517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236976" y="1097280"/>
            <a:ext cx="411480" cy="41148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236976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21608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Broadcast → Unicast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64408" y="15819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Request is broadcast; reply is direct (unicast)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517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26A8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144768" y="1097280"/>
            <a:ext cx="411480" cy="411480"/>
          </a:xfrm>
          <a:prstGeom prst="ellipse">
            <a:avLst/>
          </a:prstGeom>
          <a:solidFill>
            <a:srgbClr val="26A869"/>
          </a:solidFill>
          <a:ln w="1270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144768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ARP Cache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15819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Stored in devices, switches, routers to avoid re-querying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743200"/>
            <a:ext cx="26517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0D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338328" y="2880360"/>
            <a:ext cx="411480" cy="411480"/>
          </a:xfrm>
          <a:prstGeom prst="ellipse">
            <a:avLst/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33832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Packet = 28 Bytes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364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HW type, Protocol type, Length, OpCode, Addresses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27248" y="2743200"/>
            <a:ext cx="26517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3236976" y="2880360"/>
            <a:ext cx="411480" cy="41148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3236976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21608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 Authentication = Vulnerable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64408" y="3364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ARP Spoofing enables MitM, sniffing, DoS attacks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743200"/>
            <a:ext cx="26517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26A8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6144768" y="2880360"/>
            <a:ext cx="411480" cy="411480"/>
          </a:xfrm>
          <a:prstGeom prst="ellipse">
            <a:avLst/>
          </a:prstGeom>
          <a:solidFill>
            <a:srgbClr val="26A869"/>
          </a:solidFill>
          <a:ln w="12700">
            <a:solidFill>
              <a:srgbClr val="26A86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14476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Defended by DAI + Static ARP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2200" y="3364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Dynamic ARP Inspection validates on managed switches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B0D7"/>
          </a:solidFill>
          <a:ln w="12700">
            <a:solidFill>
              <a:srgbClr val="00B0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ARP — Address Resolution Protocol  |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716</Words>
  <Application>Microsoft Office PowerPoint</Application>
  <PresentationFormat>On-screen Show (16:9)</PresentationFormat>
  <Paragraphs>123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ARP - Address Resolution Protocol</dc:title>
  <dc:subject>PptxGenJS Presentation</dc:subject>
  <dc:creator>PptxGenJS</dc:creator>
  <cp:lastModifiedBy>Muhammad Hassaan Bari</cp:lastModifiedBy>
  <cp:revision>1</cp:revision>
  <dcterms:created xsi:type="dcterms:W3CDTF">2026-03-27T10:21:20Z</dcterms:created>
  <dcterms:modified xsi:type="dcterms:W3CDTF">2026-03-27T14:33:30Z</dcterms:modified>
</cp:coreProperties>
</file>
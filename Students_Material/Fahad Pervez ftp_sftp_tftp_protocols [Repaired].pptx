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62" r:id="rId6"/>
    <p:sldId id="265" r:id="rId7"/>
    <p:sldId id="267" r:id="rId8"/>
    <p:sldId id="269" r:id="rId9"/>
    <p:sldId id="270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846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1371600" cy="5029200"/>
          </a:xfrm>
          <a:prstGeom prst="rect">
            <a:avLst/>
          </a:prstGeom>
          <a:solidFill>
            <a:srgbClr val="162235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457200"/>
            <a:ext cx="1371600" cy="5029200"/>
          </a:xfrm>
          <a:prstGeom prst="rect">
            <a:avLst/>
          </a:prstGeom>
          <a:solidFill>
            <a:srgbClr val="162235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457200"/>
            <a:ext cx="1371600" cy="5029200"/>
          </a:xfrm>
          <a:prstGeom prst="rect">
            <a:avLst/>
          </a:prstGeom>
          <a:solidFill>
            <a:srgbClr val="162235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457200"/>
            <a:ext cx="1371600" cy="5029200"/>
          </a:xfrm>
          <a:prstGeom prst="rect">
            <a:avLst/>
          </a:prstGeom>
          <a:solidFill>
            <a:srgbClr val="162235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457200"/>
            <a:ext cx="1371600" cy="5029200"/>
          </a:xfrm>
          <a:prstGeom prst="rect">
            <a:avLst/>
          </a:prstGeom>
          <a:solidFill>
            <a:srgbClr val="162235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457200"/>
            <a:ext cx="1371600" cy="5029200"/>
          </a:xfrm>
          <a:prstGeom prst="rect">
            <a:avLst/>
          </a:prstGeom>
          <a:solidFill>
            <a:srgbClr val="162235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914400"/>
            <a:ext cx="1645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FTP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86200" y="914400"/>
            <a:ext cx="164592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SFTP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675120" y="914400"/>
            <a:ext cx="164592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TFTP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effectLst>
                  <a:glow rad="127000">
                    <a:srgbClr val="42A5F5">
                      <a:alpha val="30000"/>
                    </a:srgbClr>
                  </a:glow>
                </a:effectLst>
              </a:rPr>
              <a:t>File Transfer Protocols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0BEC5"/>
                </a:solidFill>
              </a:rPr>
              <a:t>A Comprehensive Technical Overview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2560320" cy="1508760"/>
          </a:xfrm>
          <a:prstGeom prst="rect">
            <a:avLst/>
          </a:prstGeom>
          <a:solidFill>
            <a:srgbClr val="16223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154680"/>
            <a:ext cx="25603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FTP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0292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File Transfer Protocol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565C0"/>
                </a:solidFill>
              </a:rPr>
              <a:t>RFC 959 · Port 20/21 · TCP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01568" y="3154680"/>
            <a:ext cx="2560320" cy="1508760"/>
          </a:xfrm>
          <a:prstGeom prst="rect">
            <a:avLst/>
          </a:prstGeom>
          <a:solidFill>
            <a:srgbClr val="162235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01568" y="3154680"/>
            <a:ext cx="2560320" cy="731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SFTP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01568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SSH File Transfer Protocol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01568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B5E20"/>
                </a:solidFill>
              </a:rPr>
              <a:t>RFC 913 · Port 22 · SSH/TCP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91072" y="3154680"/>
            <a:ext cx="2560320" cy="1508760"/>
          </a:xfrm>
          <a:prstGeom prst="rect">
            <a:avLst/>
          </a:prstGeom>
          <a:solidFill>
            <a:srgbClr val="162235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1072" y="3154680"/>
            <a:ext cx="256032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TFTP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291072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Trivial File Transfer Protocol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91072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65100"/>
                </a:solidFill>
              </a:rPr>
              <a:t>RFC 1350 · Port 69 · UDP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19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Network Protocols · Computer Science · Data Communication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6858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FTP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File Transfer Protocol — RFC 959 (1985)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FTP (File Transfer Protocol) is a standard protocol used to transfer files between a client and a server over a network.</a:t>
            </a:r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503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Protocol Type: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8503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Application Layer (OSI 7)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335024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6245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Transport: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36245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TCP — Reliable delivery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847088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745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Control Port: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1874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21 — Commands &amp; Responses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359152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865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Data Port: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238658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20 — Actual file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871216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986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Authentication: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289864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Username + Password (plaintext)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383280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107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Encryption: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341071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None (credentials exposed)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9227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392277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3920386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957763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RFC: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3957763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RFC 959, RFC 3659 (extensions)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777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0"/>
                </a:solidFill>
              </a:rPr>
              <a:t>Active vs Passive Mode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1188720"/>
            <a:ext cx="2011680" cy="1325880"/>
          </a:xfrm>
          <a:prstGeom prst="rect">
            <a:avLst/>
          </a:prstGeom>
          <a:solidFill>
            <a:srgbClr val="16223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188720"/>
            <a:ext cx="201168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ACTIVE MODE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152704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F"/>
                </a:solidFill>
              </a:rPr>
              <a:t>1. Client→Server: PORT cmd on port 21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18562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2. In active mode, the server connects back to the client.</a:t>
            </a:r>
          </a:p>
        </p:txBody>
      </p:sp>
      <p:sp>
        <p:nvSpPr>
          <p:cNvPr id="37" name="Text 35"/>
          <p:cNvSpPr/>
          <p:nvPr/>
        </p:nvSpPr>
        <p:spPr>
          <a:xfrm>
            <a:off x="4754880" y="218541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2514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03720" y="1188720"/>
            <a:ext cx="2057400" cy="1325880"/>
          </a:xfrm>
          <a:prstGeom prst="rect">
            <a:avLst/>
          </a:prstGeom>
          <a:solidFill>
            <a:srgbClr val="162235"/>
          </a:solidFill>
          <a:ln w="25400">
            <a:solidFill>
              <a:srgbClr val="42A5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1188720"/>
            <a:ext cx="2057400" cy="2926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1188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PASSIVE MODE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95160" y="15270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F"/>
                </a:solidFill>
              </a:rPr>
              <a:t>1. Client→Server: PASV cmd on port 21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95160" y="185623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F"/>
                </a:solidFill>
              </a:rPr>
              <a:t>2. In passive mode , the client connects to the server (firewall friendly).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95160" y="218541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95160" y="25146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63440" y="26700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</a:rPr>
              <a:t>Core FTP Commands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63440" y="3056961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056961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056961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USER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21808" y="3056961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Send username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812280" y="3056961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12280" y="3056961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12280" y="3056961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PASS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470648" y="3056961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Send password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63440" y="3386145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63440" y="3386145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3386145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LIST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21808" y="3386145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List directory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812280" y="3386145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12280" y="3386145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12280" y="3386145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RETR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470648" y="3386145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Download file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663440" y="3715329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63440" y="3715329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3440" y="3715329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STOR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321808" y="3715329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Upload file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812280" y="3715329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12280" y="3715329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12280" y="3715329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DELE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470648" y="3715329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Delete file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663440" y="4044513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63440" y="4044513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63440" y="4044513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MKD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321808" y="4044513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Make directory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812280" y="4044513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12280" y="4044513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12280" y="4044513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PWD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470648" y="4044513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Print working dir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685800"/>
          </a:xfrm>
          <a:prstGeom prst="rect">
            <a:avLst/>
          </a:prstGeom>
          <a:solidFill>
            <a:srgbClr val="1A3C1E"/>
          </a:solidFill>
          <a:ln w="12700">
            <a:solidFill>
              <a:srgbClr val="1A3C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SFTP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SSH File Transfer Protocol — SSH2 Extension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SFTP (Secure File Transfer Protocol) is a secure version of file transfer that works over SSH.</a:t>
            </a:r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503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Protocol Type: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8503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SSH2 subsystem (not FTP-based)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335024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6245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Transport: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36245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TCP via SSH tunnel — encrypted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847088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745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Port: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1874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22 — Single port for all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359152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865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Authentication: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238658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Password + SSH public key pairs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871216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986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Encryption: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289864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AES, 3DES, Blowfish, ChaCha20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4107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341071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3411248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11785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RFC: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3411785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SSH2 IETF draft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43484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443484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777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</a:rPr>
              <a:t>SFTP Architecture (SSH Layers)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234440"/>
            <a:ext cx="429768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261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SFTP Client Application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149961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5E9"/>
                </a:solidFill>
              </a:rPr>
              <a:t>User interface / scripts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1764792"/>
            <a:ext cx="429768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792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SFTP Protocol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20299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5E9"/>
                </a:solidFill>
              </a:rPr>
              <a:t>File ops: read, write, list, rename…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2295144"/>
            <a:ext cx="4297680" cy="475488"/>
          </a:xfrm>
          <a:prstGeom prst="rect">
            <a:avLst/>
          </a:prstGeom>
          <a:solidFill>
            <a:srgbClr val="388E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3225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SSH Connection Layer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25603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5E9"/>
                </a:solidFill>
              </a:rPr>
              <a:t>Channel multiplexing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2825496"/>
            <a:ext cx="4297680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852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SSH User Auth Layer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30906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5E9"/>
                </a:solidFill>
              </a:rPr>
              <a:t>Password / Public-key auth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355848"/>
            <a:ext cx="4297680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383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SSH Transport Layer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362102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5E9"/>
                </a:solidFill>
              </a:rPr>
              <a:t>Encryption + integrity (MAC)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3886200"/>
            <a:ext cx="4297680" cy="475488"/>
          </a:xfrm>
          <a:prstGeom prst="rect">
            <a:avLst/>
          </a:prstGeom>
          <a:solidFill>
            <a:srgbClr val="3747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913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TCP / IP Network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54880" y="415137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5E9"/>
                </a:solidFill>
              </a:rPr>
              <a:t>Port 22 · Reliable delivery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82880" y="4365805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</a:rPr>
              <a:t>Key SFTP Operations (Packet Types)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2880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SSH_FXP_OPEN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1298448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98448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SSH_FXP_READ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414016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14016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SSH_FXP_WRITE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529584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29584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SSH_FXP_LSTAT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645152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45152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SSH_FXP_MKDIR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5760720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0720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SSH_FXP_REMOVE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6876288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76288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SSH_FXP_RENAME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7991856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91856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SSH_FXP_REALPATH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685800"/>
          </a:xfrm>
          <a:prstGeom prst="rect">
            <a:avLst/>
          </a:prstGeom>
          <a:solidFill>
            <a:srgbClr val="7B2900"/>
          </a:solidFill>
          <a:ln w="12700">
            <a:solidFill>
              <a:srgbClr val="7B2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TFTP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Trivial File Transfer Protocol — RFC 1350 (1992)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TFTP (Trivial File Transfer Protocol) is a simple file transfer protocol used for small file transfers without authentication.</a:t>
            </a:r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5039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Protocol Type: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8503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Application Layer (OSI 7)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335024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6245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Transport: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3624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UDP (port 69) — connectionless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847088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745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Port: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187452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69 — Initial request only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359152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8658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Authentication: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3865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None — open access by 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871216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9864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Encryption: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289864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None — plaintext transfers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383280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107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Block Size: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41071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512 bytes default (RFC 2348: up to 65464)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3895344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2277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Error Handling: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92277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Simple retransmit on timeout (Lockstep)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4407408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348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RFC: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443484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RFC 1350, 2347, 2348, 2349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777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</a:rPr>
              <a:t>TFTP Packet Types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234440"/>
            <a:ext cx="4297680" cy="493776"/>
          </a:xfrm>
          <a:prstGeom prst="rect">
            <a:avLst/>
          </a:prstGeom>
          <a:solidFill>
            <a:srgbClr val="16223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234440"/>
            <a:ext cx="365760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23444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12618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</a:rPr>
              <a:t>RRQ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14996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Read Request — client requests file download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1783080"/>
            <a:ext cx="4297680" cy="493776"/>
          </a:xfrm>
          <a:prstGeom prst="rect">
            <a:avLst/>
          </a:prstGeom>
          <a:solidFill>
            <a:srgbClr val="16223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1783080"/>
            <a:ext cx="365760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78308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20640" y="181051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</a:rPr>
              <a:t>WRQ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20482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Write Request — client requests file upload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331720"/>
            <a:ext cx="4297680" cy="493776"/>
          </a:xfrm>
          <a:prstGeom prst="rect">
            <a:avLst/>
          </a:prstGeom>
          <a:solidFill>
            <a:srgbClr val="16223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331720"/>
            <a:ext cx="365760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33172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20640" y="235915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</a:rPr>
              <a:t>DATA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20640" y="25968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Data packet — 512-byte blocks, numbered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2880360"/>
            <a:ext cx="4297680" cy="493776"/>
          </a:xfrm>
          <a:prstGeom prst="rect">
            <a:avLst/>
          </a:prstGeom>
          <a:solidFill>
            <a:srgbClr val="16223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2880360"/>
            <a:ext cx="365760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288036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20640" y="29077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</a:rPr>
              <a:t>ACK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20640" y="31455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Acknowledgement — confirms block received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429000"/>
            <a:ext cx="4297680" cy="493776"/>
          </a:xfrm>
          <a:prstGeom prst="rect">
            <a:avLst/>
          </a:prstGeom>
          <a:solidFill>
            <a:srgbClr val="16223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429000"/>
            <a:ext cx="365760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42900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20640" y="345643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</a:rPr>
              <a:t>ERROR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20640" y="36941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Error — code + message, terminates transfer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663440" y="407822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</a:rPr>
              <a:t>Lockstep Transfer Flow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63440" y="4425696"/>
            <a:ext cx="4297680" cy="128016"/>
          </a:xfrm>
          <a:prstGeom prst="rect">
            <a:avLst/>
          </a:prstGeom>
          <a:solidFill>
            <a:srgbClr val="1E2E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4425696"/>
            <a:ext cx="4114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1. Client→Server: RRQ/WRQ (port 69)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663440" y="4567428"/>
            <a:ext cx="4297680" cy="128016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4567428"/>
            <a:ext cx="4114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2. Server→Client: DATA block #1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663440" y="4709160"/>
            <a:ext cx="4297680" cy="128016"/>
          </a:xfrm>
          <a:prstGeom prst="rect">
            <a:avLst/>
          </a:prstGeom>
          <a:solidFill>
            <a:srgbClr val="1E2E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4709160"/>
            <a:ext cx="4114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3. Client→Server: ACK block #1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663440" y="4850892"/>
            <a:ext cx="4297680" cy="128016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4850892"/>
            <a:ext cx="4114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4. Repeat until last block (&lt;512B)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663440" y="4992624"/>
            <a:ext cx="4297680" cy="128016"/>
          </a:xfrm>
          <a:prstGeom prst="rect">
            <a:avLst/>
          </a:prstGeom>
          <a:solidFill>
            <a:srgbClr val="1E2E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4992624"/>
            <a:ext cx="4114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5. Last block signals end of file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2A5F5"/>
                </a:solidFill>
              </a:rPr>
              <a:t>ARCHITECTURE &amp; CONNECTION MODELS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1417320"/>
          </a:xfrm>
          <a:prstGeom prst="rect">
            <a:avLst/>
          </a:prstGeom>
          <a:solidFill>
            <a:srgbClr val="16223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87782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FTP — Dual Channel Model (Control + Data)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8288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FTP CLIENT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</a:rPr>
              <a:t>PI (Protocol Interpreter)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</a:rPr>
              <a:t>DTP (Data Transfer)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1444752"/>
            <a:ext cx="2011680" cy="0"/>
          </a:xfrm>
          <a:prstGeom prst="line">
            <a:avLst/>
          </a:prstGeom>
          <a:noFill/>
          <a:ln w="25400">
            <a:solidFill>
              <a:srgbClr val="FFD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2618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600"/>
                </a:solidFill>
              </a:rPr>
              <a:t>Control (port 21)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94560" y="1920240"/>
            <a:ext cx="201168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240280" y="1965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2A5F5"/>
                </a:solidFill>
              </a:rPr>
              <a:t>Data (port 20)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06240" y="1170432"/>
            <a:ext cx="2011680" cy="914400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170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FTP SERVER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15361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</a:rPr>
              <a:t>Server PI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</a:rPr>
              <a:t>Server DTP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</a:rPr>
              <a:t>Filesystem Access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117043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EC5"/>
                </a:solidFill>
              </a:rPr>
              <a:t>FTP requires 2 separate TCP connections per file operation. Active mode: server initiates data connection. Passive mode: client initiates both connections (firewall-friendly).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331720"/>
            <a:ext cx="8778240" cy="1280160"/>
          </a:xfrm>
          <a:prstGeom prst="rect">
            <a:avLst/>
          </a:prstGeom>
          <a:solidFill>
            <a:srgbClr val="162235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331720"/>
            <a:ext cx="8778240" cy="2926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331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SFTP — Single Encrypted SSH Channel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24912"/>
            <a:ext cx="1828800" cy="8046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24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SFTP CLIENT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0449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C9"/>
                </a:solidFill>
              </a:rPr>
              <a:t>SSH Client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94560" y="3127248"/>
            <a:ext cx="3931920" cy="0"/>
          </a:xfrm>
          <a:prstGeom prst="line">
            <a:avLst/>
          </a:prstGeom>
          <a:noFill/>
          <a:ln w="38100">
            <a:solidFill>
              <a:srgbClr val="66BB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2724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BB6A"/>
                </a:solidFill>
              </a:rPr>
              <a:t>Single SSH Tunnel — Port 22 — All data encrypted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91840" y="2999232"/>
            <a:ext cx="18288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D6A7"/>
                </a:solidFill>
              </a:rPr>
              <a:t>🔒 AES-256 Encrypted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2724912"/>
            <a:ext cx="2011680" cy="804672"/>
          </a:xfrm>
          <a:prstGeom prst="rect">
            <a:avLst/>
          </a:prstGeom>
          <a:solidFill>
            <a:srgbClr val="1A3C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7249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SFTP SERVER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04495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C9"/>
                </a:solidFill>
              </a:rPr>
              <a:t>SSH Server + SFTP subsystem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3730752"/>
            <a:ext cx="8778240" cy="1234440"/>
          </a:xfrm>
          <a:prstGeom prst="rect">
            <a:avLst/>
          </a:prstGeom>
          <a:solidFill>
            <a:srgbClr val="162235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3730752"/>
            <a:ext cx="877824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307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TFTP — Minimal UDP Connectionless Model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1737360" cy="731520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TFTP CLIENT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434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E0B2"/>
                </a:solidFill>
              </a:rPr>
              <a:t>No auth · UDP only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03120" y="4480560"/>
            <a:ext cx="3931920" cy="0"/>
          </a:xfrm>
          <a:prstGeom prst="line">
            <a:avLst/>
          </a:prstGeom>
          <a:noFill/>
          <a:ln w="25400">
            <a:solidFill>
              <a:srgbClr val="FFA726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2148840" y="42611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A726"/>
                </a:solidFill>
              </a:rPr>
              <a:t>UDP Port 69 — No connection, no handshake, no encryption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35040" y="4114800"/>
            <a:ext cx="2011680" cy="731520"/>
          </a:xfrm>
          <a:prstGeom prst="rect">
            <a:avLst/>
          </a:prstGeom>
          <a:solidFill>
            <a:srgbClr val="7B2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TFTP SERVER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E0B2"/>
                </a:solidFill>
              </a:rPr>
              <a:t>Boot server / ROM images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92440" y="411480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</a:rPr>
              <a:t>TFTP uses a stateless UDP approach — ideal for PXE boot, network device config, and environments where simplicity &gt; security.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2A5F5"/>
                </a:solidFill>
              </a:rPr>
              <a:t>USE CASES &amp; REAL-WORLD APPLICATIONS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8803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FTP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207008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207008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344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 Hosting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490472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Classic FTP clients (FileZilla, WinSCP) for uploading website content to shared hosting servers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1975104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975104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002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Legacy Systems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2258568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Enterprise mainframe integration, EDI transfers between older business systems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" y="2743200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743200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7706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Internal Data Exchange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3026664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Trusted LAN file sharing where security is managed at the network perimeter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3511296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3511296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5387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Automated Batch Jobs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3794760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Scripted nightly uploads/downloads of reports, backups, and data feeds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4279392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4279392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430682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Media Distribution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4562856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FTP mirrors for distributing large ISO, video, or software archive files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777240"/>
            <a:ext cx="28803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777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SFTP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46120" y="1207008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1207008"/>
            <a:ext cx="54864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12344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Secure File Sharing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55848" y="1490472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B2B file exchange requiring compliance: HIPAA, PCI-DSS, SOX, GDPR regulated data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46120" y="1975104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1975104"/>
            <a:ext cx="54864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2002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DevOps &amp; CI/CD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55848" y="2258568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Artifact deployment, configuration distribution to remote servers via scripts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46120" y="2743200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2743200"/>
            <a:ext cx="54864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55848" y="27706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Backup &amp; Archival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55848" y="3026664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Encrypted off-site backups to cloud or co-location facilities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46120" y="3511296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6120" y="3511296"/>
            <a:ext cx="54864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55848" y="35387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Remote Administration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55848" y="3794760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System administrators transferring configs, patches, logs on production servers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46120" y="4279392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46120" y="4279392"/>
            <a:ext cx="54864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55848" y="430682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Managed File Transfer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55848" y="4562856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MFT platforms (Axway, IBM MFT) use SFTP as secure backbone for enterprise workflows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09360" y="777240"/>
            <a:ext cx="288036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777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TFTP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309360" y="1207008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1207008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12344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PXE Network Boot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19088" y="1490472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Diskless workstations and servers load OS kernel images over network via TFTP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309360" y="1975104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9360" y="1975104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19088" y="2002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Cisco / Network Gear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19088" y="2258568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Router/switch IOS firmware upgrades, running-config backups, startup-config restore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309360" y="2743200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9360" y="2743200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19088" y="27706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VoIP Phone Provisioning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19088" y="3026664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IP phones (Cisco, Polycom) download configuration files on startup via TFTP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309360" y="3511296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09360" y="3511296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19088" y="35387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Embedded Systems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19088" y="3794760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IoT devices, industrial controllers with minimal flash/RAM use TFTP for updates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309360" y="4279392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09360" y="4279392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19088" y="430682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DHCP + TFTP Combo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419088" y="4562856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DHCP option 66/67 tells clients where TFTP server is for boot file retrieval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2A5F5"/>
                </a:solidFill>
              </a:rPr>
              <a:t>COMPREHENSIVE COMPARISON TABLE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" y="749808"/>
            <a:ext cx="19202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749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749808"/>
            <a:ext cx="23317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749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FTP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749808"/>
            <a:ext cx="233172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749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SFTP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749808"/>
            <a:ext cx="233172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749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TFTP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" y="1115568"/>
            <a:ext cx="1920240" cy="201168"/>
          </a:xfrm>
          <a:prstGeom prst="rect">
            <a:avLst/>
          </a:prstGeom>
          <a:solidFill>
            <a:srgbClr val="1A2C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111556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Full Name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11680" y="1115568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11155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File Transfer Protocol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43400" y="1115568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1155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SSH File Transfer Protocol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75120" y="1115568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1155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Trivial File Transfer Protocol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440" y="1335024"/>
            <a:ext cx="1920240" cy="201168"/>
          </a:xfrm>
          <a:prstGeom prst="rect">
            <a:avLst/>
          </a:prstGeom>
          <a:solidFill>
            <a:srgbClr val="15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33502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RFC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11680" y="1335024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13350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RFC 959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43400" y="1335024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13350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SSH2 IETF Draft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75120" y="1335024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13350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RFC 1350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1440" y="1554480"/>
            <a:ext cx="1920240" cy="201168"/>
          </a:xfrm>
          <a:prstGeom prst="rect">
            <a:avLst/>
          </a:prstGeom>
          <a:solidFill>
            <a:srgbClr val="1A2C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5544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Year Introduced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11680" y="1554480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7400" y="1554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1971 (1985 revised)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43400" y="1554480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1554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1997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75120" y="1554480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554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1980 (1992 revised)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1920240" cy="201168"/>
          </a:xfrm>
          <a:prstGeom prst="rect">
            <a:avLst/>
          </a:prstGeom>
          <a:solidFill>
            <a:srgbClr val="15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Transport Layer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011680" y="1773936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57400" y="17739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TCP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43400" y="1773936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17739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TCP (via SSH)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75120" y="1773936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17739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UDP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1440" y="1993392"/>
            <a:ext cx="1920240" cy="201168"/>
          </a:xfrm>
          <a:prstGeom prst="rect">
            <a:avLst/>
          </a:prstGeom>
          <a:solidFill>
            <a:srgbClr val="1A2C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19933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Default Port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011680" y="1993392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57400" y="1993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20, 21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343400" y="1993392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0" y="1993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22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75120" y="1993392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1993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69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1440" y="2212848"/>
            <a:ext cx="1920240" cy="201168"/>
          </a:xfrm>
          <a:prstGeom prst="rect">
            <a:avLst/>
          </a:prstGeom>
          <a:solidFill>
            <a:srgbClr val="15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21284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Connections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011680" y="2212848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57400" y="2212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Dual channel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343400" y="2212848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2212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Single channel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675120" y="2212848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0840" y="2212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Connectionless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1440" y="2432304"/>
            <a:ext cx="1920240" cy="201168"/>
          </a:xfrm>
          <a:prstGeom prst="rect">
            <a:avLst/>
          </a:prstGeom>
          <a:solidFill>
            <a:srgbClr val="1A2C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43230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Authentication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011680" y="2432304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57400" y="24323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Username/Password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343400" y="2432304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0" y="24323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Password / Key / MFA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675120" y="2432304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20840" y="24323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None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1440" y="2651760"/>
            <a:ext cx="1920240" cy="201168"/>
          </a:xfrm>
          <a:prstGeom prst="rect">
            <a:avLst/>
          </a:prstGeom>
          <a:solidFill>
            <a:srgbClr val="15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26517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Encryption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011680" y="2651760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57400" y="26517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None (FTPS adds TLS)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343400" y="2651760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89120" y="26517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AES, 3DES, ChaCha20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675120" y="2651760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20840" y="26517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None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1440" y="2871216"/>
            <a:ext cx="1920240" cy="201168"/>
          </a:xfrm>
          <a:prstGeom prst="rect">
            <a:avLst/>
          </a:prstGeom>
          <a:solidFill>
            <a:srgbClr val="1A2C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28712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Speed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011680" y="2871216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057400" y="28712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Medium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43400" y="2871216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28712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Medium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675120" y="2871216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20840" y="28712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fast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91440" y="3090672"/>
            <a:ext cx="1920240" cy="201168"/>
          </a:xfrm>
          <a:prstGeom prst="rect">
            <a:avLst/>
          </a:prstGeom>
          <a:solidFill>
            <a:srgbClr val="15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0906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Use Case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011680" y="3090672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057400" y="30906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General file transfer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343400" y="3090672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30906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Secure transfer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675120" y="3090672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20840" y="30906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Small/simple transfer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1440" y="3310128"/>
            <a:ext cx="1920240" cy="201168"/>
          </a:xfrm>
          <a:prstGeom prst="rect">
            <a:avLst/>
          </a:prstGeom>
          <a:solidFill>
            <a:srgbClr val="1A2C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331012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Security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011680" y="3310128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057400" y="3310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EF5350"/>
                </a:solidFill>
              </a:rPr>
              <a:t>LOW — plaintext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343400" y="3310128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89120" y="3310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BB6A"/>
                </a:solidFill>
              </a:rPr>
              <a:t>HIGH — encrypted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675120" y="3310128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20840" y="3310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FF7043"/>
                </a:solidFill>
              </a:rPr>
              <a:t>NONE — open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91440" y="3529584"/>
            <a:ext cx="1920240" cy="201168"/>
          </a:xfrm>
          <a:prstGeom prst="rect">
            <a:avLst/>
          </a:prstGeom>
          <a:solidFill>
            <a:srgbClr val="15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352958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Max File Size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011680" y="3529584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057400" y="35295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Unlimited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343400" y="3529584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89120" y="35295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Unlimited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6675120" y="3529584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n-US" sz="800" dirty="0">
                <a:solidFill>
                  <a:srgbClr val="F0F4FF"/>
                </a:solidFill>
              </a:rPr>
              <a:t>~32MB (RFC 1350)</a:t>
            </a:r>
            <a:endParaRPr lang="en-PK" sz="800" dirty="0"/>
          </a:p>
        </p:txBody>
      </p:sp>
      <p:sp>
        <p:nvSpPr>
          <p:cNvPr id="107" name="Text 105"/>
          <p:cNvSpPr/>
          <p:nvPr/>
        </p:nvSpPr>
        <p:spPr>
          <a:xfrm>
            <a:off x="6720840" y="35295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137160" y="37490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2057400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4389120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6720840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137160" y="462686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137160" y="484632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2057400" y="4846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4389120" y="4846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5" name="Text 153"/>
          <p:cNvSpPr/>
          <p:nvPr/>
        </p:nvSpPr>
        <p:spPr>
          <a:xfrm>
            <a:off x="6720840" y="4846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162235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0"/>
            <a:ext cx="1371600" cy="5143500"/>
          </a:xfrm>
          <a:prstGeom prst="rect">
            <a:avLst/>
          </a:prstGeom>
          <a:solidFill>
            <a:srgbClr val="162235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0"/>
            <a:ext cx="1371600" cy="5143500"/>
          </a:xfrm>
          <a:prstGeom prst="rect">
            <a:avLst/>
          </a:prstGeom>
          <a:solidFill>
            <a:srgbClr val="162235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0"/>
            <a:ext cx="1371600" cy="5143500"/>
          </a:xfrm>
          <a:prstGeom prst="rect">
            <a:avLst/>
          </a:prstGeom>
          <a:solidFill>
            <a:srgbClr val="162235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0"/>
            <a:ext cx="1371600" cy="5143500"/>
          </a:xfrm>
          <a:prstGeom prst="rect">
            <a:avLst/>
          </a:prstGeom>
          <a:solidFill>
            <a:srgbClr val="162235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62235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Key Takeaways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8229600" cy="987552"/>
          </a:xfrm>
          <a:prstGeom prst="rect">
            <a:avLst/>
          </a:prstGeom>
          <a:solidFill>
            <a:srgbClr val="16223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97280"/>
            <a:ext cx="502920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9728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11247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</a:rPr>
              <a:t>FTP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8992" y="1463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4FF"/>
                </a:solidFill>
              </a:rPr>
              <a:t>Original &amp; Fast — Great throughput but no encryption. Suitable only for internal trusted networks. Consider FTPS if TLS is needed.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8229600" cy="987552"/>
          </a:xfrm>
          <a:prstGeom prst="rect">
            <a:avLst/>
          </a:prstGeom>
          <a:solidFill>
            <a:srgbClr val="162235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94560"/>
            <a:ext cx="502920" cy="9875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9456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22219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SFTP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8992" y="25603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4FF"/>
                </a:solidFill>
              </a:rPr>
              <a:t>Secure by Design — The gold standard for modern file transfer. Single port, encrypted, supports key-based auth. Use for all internet-facing transfers.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987552"/>
          </a:xfrm>
          <a:prstGeom prst="rect">
            <a:avLst/>
          </a:prstGeom>
          <a:solidFill>
            <a:srgbClr val="162235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91840"/>
            <a:ext cx="502920" cy="9875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9184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78992" y="33192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5100"/>
                </a:solidFill>
              </a:rPr>
              <a:t>TFTP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8992" y="36576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4FF"/>
                </a:solidFill>
              </a:rPr>
              <a:t>Simple &amp; Minimal — Designed for speed and simplicity over security. Essential for PXE boot, routers, and IoT devices in isolated networks.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DAE5E3-162B-484C-87C4-50A54CA7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349624"/>
            <a:ext cx="8563694" cy="2008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735D49-C798-4BD7-BD06-71FA981F2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0" y="2357717"/>
            <a:ext cx="8563694" cy="1461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7CBBC-F588-4C7C-A178-D96F1CCD4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0" y="3818965"/>
            <a:ext cx="8563694" cy="97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47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1231</Words>
  <Application>Microsoft Office PowerPoint</Application>
  <PresentationFormat>On-screen Show (16:9)</PresentationFormat>
  <Paragraphs>265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Transfer Protocols: FTP, SFTP &amp; TFTP</dc:title>
  <dc:subject>PptxGenJS Presentation</dc:subject>
  <dc:creator>PptxGenJS</dc:creator>
  <cp:lastModifiedBy>Malik Fahad</cp:lastModifiedBy>
  <cp:revision>15</cp:revision>
  <dcterms:created xsi:type="dcterms:W3CDTF">2026-03-26T15:53:40Z</dcterms:created>
  <dcterms:modified xsi:type="dcterms:W3CDTF">2026-03-27T06:35:30Z</dcterms:modified>
</cp:coreProperties>
</file>